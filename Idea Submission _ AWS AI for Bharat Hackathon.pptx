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9144000" cy="5143500" type="screen16x9"/>
  <p:notesSz cx="6858000" cy="9144000"/>
  <p:embeddedFontLst>
    <p:embeddedFont>
      <p:font typeface="Manrope" panose="020B0604020202020204" charset="0"/>
      <p:regular r:id="rId15"/>
      <p:bold r:id="rId16"/>
    </p:embeddedFont>
    <p:embeddedFont>
      <p:font typeface="Manrope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DB51CA6-CAEA-35B9-BA03-03273E29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89F90F85-987A-92A8-1894-1A09AD4CC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B5C6506D-5C68-7B90-9849-10EB1E675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978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C9BFDE0-DD0A-C9BE-4567-B1B40D20D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B98BAEE0-8EEF-FCC4-2CAB-E832B79B3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F9887080-3ED3-25CF-CE3E-4282E8B4A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950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Team Magma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>
                <a:latin typeface="Manrope SemiBold" panose="020B0604020202020204" charset="0"/>
              </a:rPr>
              <a:t>Build an AI-powered solution that helps people learn faster, work smarter, or become more productive while building or understanding technology.</a:t>
            </a: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Saqib Ahmed K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49"/>
            <a:ext cx="8118791" cy="37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9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9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CodeTutor AI is an AI-powered learning assistant designed specially for students, self-taught developers, and early career engineers in India who are learning to code or building tech projects, It acts like a 24/7 personal coding mentor which helping users understand confusing code, debug errors, simplify technical documentation and improve their development window all through a simple chat like interface.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9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Built on AWS cloud services and powered by generative AI (Amazon Bedrock), CodeTutor doesn’t just give answers it teaches concepts. Whether you’re stuck on a </a:t>
            </a:r>
            <a:r>
              <a:rPr lang="en-GB" sz="900" b="1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NullPointerException</a:t>
            </a:r>
            <a:r>
              <a:rPr lang="en-GB" sz="9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, trying to understand a React hook or overwhelmed by API docs, CodeTutor breaks it down in a clear, beginner-friendly language so you learn faster and build smarter.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9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It’s not just another code generator, it is a learning accelerator for the next generation of Indian developers.</a:t>
            </a:r>
            <a:endParaRPr sz="9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699" y="863550"/>
            <a:ext cx="7342937" cy="319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lang="en-US"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Manrope" panose="020B0604020202020204" charset="0"/>
              </a:rPr>
              <a:t>Most AI coding tools (e.g., GitHub Copilot) generate code but don’t teach understanding.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Manrope" panose="020B0604020202020204" charset="0"/>
              </a:rPr>
              <a:t>Along with understanding our code also recommends suitable remembering techniques and list of real-life applications of any given topics.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Manrope" panose="020B0604020202020204" charset="0"/>
              </a:rPr>
              <a:t>Search engines and forums require users to phrase perfect queries a major barrier for beginners.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 err="1">
                <a:latin typeface="Manrope" panose="020B0604020202020204" charset="0"/>
              </a:rPr>
              <a:t>CodeTutor</a:t>
            </a:r>
            <a:r>
              <a:rPr lang="en-IN" sz="1600" dirty="0">
                <a:latin typeface="Manrope" panose="020B0604020202020204" charset="0"/>
              </a:rPr>
              <a:t> works context-first: paste code → get explanation,</a:t>
            </a:r>
            <a:br>
              <a:rPr lang="en-IN" sz="1600" dirty="0">
                <a:latin typeface="Manrope" panose="020B0604020202020204" charset="0"/>
              </a:rPr>
            </a:br>
            <a:r>
              <a:rPr lang="en-IN" sz="1600" dirty="0">
                <a:latin typeface="Manrope" panose="020B0604020202020204" charset="0"/>
              </a:rPr>
              <a:t>paste error → get fix. No prompt engineering needed.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Manrope" panose="020B0604020202020204" charset="0"/>
              </a:rPr>
              <a:t>Designed specifically for learners in India, with emphasis on clarity over cleverness, and education over automation.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AD9AB43-C24B-45DB-4C4E-BF1F7DE7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D5B0EFD0-8991-AEC9-689C-3842A3EF55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56FB209D-6E51-1E35-5495-396D892FCF87}"/>
              </a:ext>
            </a:extLst>
          </p:cNvPr>
          <p:cNvSpPr txBox="1"/>
          <p:nvPr/>
        </p:nvSpPr>
        <p:spPr>
          <a:xfrm>
            <a:off x="311699" y="863549"/>
            <a:ext cx="7426065" cy="348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Manrope" panose="020B0604020202020204" charset="0"/>
              </a:rPr>
              <a:t>Accelerates learning: </a:t>
            </a:r>
            <a:r>
              <a:rPr lang="en-US" sz="1600" dirty="0">
                <a:latin typeface="Manrope" panose="020B0604020202020204" charset="0"/>
              </a:rPr>
              <a:t>Turns hours of Googling into seconds of guided insight.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Manrope" panose="020B0604020202020204" charset="0"/>
              </a:rPr>
              <a:t>Reduces frustration: </a:t>
            </a:r>
            <a:r>
              <a:rPr lang="en-US" sz="1600" dirty="0">
                <a:latin typeface="Manrope" panose="020B0604020202020204" charset="0"/>
              </a:rPr>
              <a:t>Instantly decodes cryptic error messages and complex syntax.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Manrope" panose="020B0604020202020204" charset="0"/>
              </a:rPr>
              <a:t>Democratizes mentorship: </a:t>
            </a:r>
            <a:r>
              <a:rPr lang="en-US" sz="1600" dirty="0">
                <a:latin typeface="Manrope" panose="020B0604020202020204" charset="0"/>
              </a:rPr>
              <a:t>Brings expert-level guidance to students in Tier 2/3 cities with limited access to coaching.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Manrope" panose="020B0604020202020204" charset="0"/>
              </a:rPr>
              <a:t>Boosts productivity: </a:t>
            </a:r>
            <a:r>
              <a:rPr lang="en-US" sz="1600" dirty="0">
                <a:latin typeface="Manrope" panose="020B0604020202020204" charset="0"/>
              </a:rPr>
              <a:t>Developers stay in flow—no context switching between IDE, browser, and notes.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5673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DE57212-5831-2D51-AFC9-F634C6C2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477203DA-23DB-B757-57F7-51D51F8F8A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7264309-3EE9-FCB1-3B50-33FCBF46693C}"/>
              </a:ext>
            </a:extLst>
          </p:cNvPr>
          <p:cNvSpPr txBox="1"/>
          <p:nvPr/>
        </p:nvSpPr>
        <p:spPr>
          <a:xfrm>
            <a:off x="311699" y="863550"/>
            <a:ext cx="7772427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600" dirty="0">
                <a:latin typeface="Manrope" panose="020B0604020202020204" charset="0"/>
              </a:rPr>
              <a:t>“</a:t>
            </a:r>
            <a:r>
              <a:rPr lang="en-US" sz="1600" b="1" dirty="0">
                <a:latin typeface="Manrope" panose="020B0604020202020204" charset="0"/>
              </a:rPr>
              <a:t>From confusion to clarity in one click</a:t>
            </a:r>
            <a:r>
              <a:rPr lang="en-US" sz="1600" dirty="0">
                <a:latin typeface="Manrope" panose="020B0604020202020204" charset="0"/>
              </a:rPr>
              <a:t>.”</a:t>
            </a:r>
            <a:br>
              <a:rPr lang="en-US" sz="1600" dirty="0">
                <a:latin typeface="Manrope" panose="020B0604020202020204" charset="0"/>
              </a:rPr>
            </a:br>
            <a:r>
              <a:rPr lang="en-US" sz="1600" dirty="0" err="1">
                <a:latin typeface="Manrope" panose="020B0604020202020204" charset="0"/>
              </a:rPr>
              <a:t>CodeTutor</a:t>
            </a:r>
            <a:r>
              <a:rPr lang="en-US" sz="1600" dirty="0">
                <a:latin typeface="Manrope" panose="020B0604020202020204" charset="0"/>
              </a:rPr>
              <a:t> AI is the only tool that combines code explanation, debugging, documentation summarization, and workflow coaching into a single, beginner-optimized experience—built on secure, scalable AWS infrastructure for India’s next million developers.</a:t>
            </a:r>
            <a:endParaRPr sz="16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1876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Code Explainer :</a:t>
            </a:r>
            <a:r>
              <a:rPr lang="en-IN" sz="1600" dirty="0">
                <a:latin typeface="Manrope" panose="020B0604020202020204" charset="0"/>
              </a:rPr>
              <a:t> Paste any code snippet → get a line-by-line breakdown in simple English.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Bug Decoder :</a:t>
            </a:r>
            <a:r>
              <a:rPr lang="en-IN" sz="1600" dirty="0">
                <a:latin typeface="Manrope" panose="020B0604020202020204" charset="0"/>
              </a:rPr>
              <a:t> Paste an error message (with or without code) → get root cause + fix.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Doc Summarizer :</a:t>
            </a:r>
            <a:r>
              <a:rPr lang="en-IN" sz="1600" dirty="0">
                <a:latin typeface="Manrope" panose="020B0604020202020204" charset="0"/>
              </a:rPr>
              <a:t> Paste technical documentation → get a concise, structured TL;DR.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Workflow Coach :</a:t>
            </a:r>
            <a:r>
              <a:rPr lang="en-IN" sz="1600" dirty="0">
                <a:latin typeface="Manrope" panose="020B0604020202020204" charset="0"/>
              </a:rPr>
              <a:t> Ask “How do I improve?” → get personalized productivity tips.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Beginner Mode : </a:t>
            </a:r>
            <a:r>
              <a:rPr lang="en-IN" sz="1600" dirty="0">
                <a:latin typeface="Manrope" panose="020B0604020202020204" charset="0"/>
              </a:rPr>
              <a:t>Simplifies responses for new learners (toggle on/off).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Active Learning Techniques : </a:t>
            </a:r>
            <a:r>
              <a:rPr lang="en-IN" sz="1600" dirty="0">
                <a:latin typeface="Manrope" panose="020B0604020202020204" charset="0"/>
              </a:rPr>
              <a:t>A combination of understanding, learning and execution.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Future Implementation :</a:t>
            </a:r>
            <a:r>
              <a:rPr lang="en-IN" sz="1600" dirty="0">
                <a:latin typeface="Manrope" panose="020B0604020202020204" charset="0"/>
              </a:rPr>
              <a:t> Regional language support via Amazon Translate (Hindi, Tamil, Bengali, etc.).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600314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E06408A2-C5DD-B6EF-A622-F30575457C9E}"/>
              </a:ext>
            </a:extLst>
          </p:cNvPr>
          <p:cNvSpPr/>
          <p:nvPr/>
        </p:nvSpPr>
        <p:spPr>
          <a:xfrm>
            <a:off x="3657601" y="1201568"/>
            <a:ext cx="1454727" cy="38792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Input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78BB01A3-4643-EE59-61E8-0F0FFA721AFC}"/>
              </a:ext>
            </a:extLst>
          </p:cNvPr>
          <p:cNvSpPr/>
          <p:nvPr/>
        </p:nvSpPr>
        <p:spPr>
          <a:xfrm>
            <a:off x="2386445" y="1976005"/>
            <a:ext cx="3997037" cy="762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Input Analyzer</a:t>
            </a:r>
          </a:p>
          <a:p>
            <a:pPr algn="ctr"/>
            <a:r>
              <a:rPr lang="en-IN" dirty="0"/>
              <a:t>Detects if Input is Code, Error, Doc or Question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F3C50D0-5558-ACB1-329A-9F050A227F8A}"/>
              </a:ext>
            </a:extLst>
          </p:cNvPr>
          <p:cNvSpPr/>
          <p:nvPr/>
        </p:nvSpPr>
        <p:spPr>
          <a:xfrm>
            <a:off x="1336961" y="3159150"/>
            <a:ext cx="1191491" cy="78278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If Code : Step by step explanation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067953C-E8D6-F61C-EC81-53B252952352}"/>
              </a:ext>
            </a:extLst>
          </p:cNvPr>
          <p:cNvSpPr/>
          <p:nvPr/>
        </p:nvSpPr>
        <p:spPr>
          <a:xfrm>
            <a:off x="2923337" y="3159150"/>
            <a:ext cx="1212272" cy="762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If Error : Diagnosis + Solution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33C559E-0D5F-8386-DCF6-3CF3F1BBDBD6}"/>
              </a:ext>
            </a:extLst>
          </p:cNvPr>
          <p:cNvSpPr/>
          <p:nvPr/>
        </p:nvSpPr>
        <p:spPr>
          <a:xfrm>
            <a:off x="4579840" y="3159150"/>
            <a:ext cx="1212272" cy="762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If Doc : </a:t>
            </a:r>
          </a:p>
          <a:p>
            <a:pPr algn="ctr"/>
            <a:r>
              <a:rPr lang="en-IN" dirty="0"/>
              <a:t>Key points + usage tips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AF78C98-05F1-B878-9CAC-EF4D2B53FF41}"/>
              </a:ext>
            </a:extLst>
          </p:cNvPr>
          <p:cNvSpPr/>
          <p:nvPr/>
        </p:nvSpPr>
        <p:spPr>
          <a:xfrm>
            <a:off x="6302999" y="3159150"/>
            <a:ext cx="1212272" cy="762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If Question :</a:t>
            </a:r>
          </a:p>
          <a:p>
            <a:pPr algn="ctr"/>
            <a:r>
              <a:rPr lang="en-IN" dirty="0"/>
              <a:t>Actionable advice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9F9BD7B4-AE12-271E-15A7-4D57E0C56D52}"/>
              </a:ext>
            </a:extLst>
          </p:cNvPr>
          <p:cNvSpPr/>
          <p:nvPr/>
        </p:nvSpPr>
        <p:spPr>
          <a:xfrm>
            <a:off x="2203738" y="4148332"/>
            <a:ext cx="4362450" cy="9432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Response</a:t>
            </a:r>
          </a:p>
          <a:p>
            <a:pPr algn="ctr"/>
            <a:r>
              <a:rPr lang="en-IN" dirty="0"/>
              <a:t>Provides an explanation of the concept along with remembering techniques and applications</a:t>
            </a:r>
          </a:p>
          <a:p>
            <a:pPr algn="ctr"/>
            <a:r>
              <a:rPr lang="en-IN" dirty="0"/>
              <a:t>(User can copy, save, simplify or ask to re-diagnose)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5D6E19-335F-B4BD-6A34-63F03FFA7E84}"/>
              </a:ext>
            </a:extLst>
          </p:cNvPr>
          <p:cNvCxnSpPr>
            <a:stCxn id="2" idx="2"/>
          </p:cNvCxnSpPr>
          <p:nvPr/>
        </p:nvCxnSpPr>
        <p:spPr>
          <a:xfrm flipH="1">
            <a:off x="4384964" y="1589496"/>
            <a:ext cx="1" cy="386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7438F9-C4E4-4FDF-9EF0-8FFEFE4480B7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1932707" y="2738005"/>
            <a:ext cx="2452257" cy="42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211334-FEB3-2968-C021-72D5BE0752F2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3529473" y="2738005"/>
            <a:ext cx="855491" cy="42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9E97D0-C6D6-9479-2288-726C06773F2D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4384964" y="2738005"/>
            <a:ext cx="801012" cy="42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A78EA8-3977-5EA0-5367-D7089C08EAFB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4384964" y="2738005"/>
            <a:ext cx="2524171" cy="42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EDAF74-A0EE-7FCA-3303-51B979AEB6F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1932707" y="3941932"/>
            <a:ext cx="2452256" cy="2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0E126B-3614-17E4-D012-461DCD3E9D6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529473" y="3921150"/>
            <a:ext cx="855490" cy="22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BF890B-D4D1-3C63-AEDA-752E6351F65B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4384963" y="3921150"/>
            <a:ext cx="801013" cy="22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4CB8DF-C886-B318-5E5C-9D76F145CE9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384963" y="3921150"/>
            <a:ext cx="2524172" cy="22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C3C51-AFA0-E2D2-24C9-9E9CCBC11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55" y="1475509"/>
            <a:ext cx="5666509" cy="2804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290918" y="31629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31D54DE7-9535-34BB-BFEC-8279CD2F22EC}"/>
              </a:ext>
            </a:extLst>
          </p:cNvPr>
          <p:cNvSpPr/>
          <p:nvPr/>
        </p:nvSpPr>
        <p:spPr>
          <a:xfrm>
            <a:off x="680589" y="1198418"/>
            <a:ext cx="2402047" cy="6996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Frontend :</a:t>
            </a:r>
          </a:p>
          <a:p>
            <a:pPr algn="ctr"/>
            <a:r>
              <a:rPr lang="en-IN" dirty="0"/>
              <a:t>React Web App hosted on AWS Amplify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CAA282C4-6903-5319-9013-277043755467}"/>
              </a:ext>
            </a:extLst>
          </p:cNvPr>
          <p:cNvSpPr/>
          <p:nvPr/>
        </p:nvSpPr>
        <p:spPr>
          <a:xfrm>
            <a:off x="3472307" y="1198418"/>
            <a:ext cx="2329283" cy="6996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Amazon API Gateway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B8382FA-26F8-7993-24C1-E98EEEE0159C}"/>
              </a:ext>
            </a:extLst>
          </p:cNvPr>
          <p:cNvSpPr/>
          <p:nvPr/>
        </p:nvSpPr>
        <p:spPr>
          <a:xfrm>
            <a:off x="6192981" y="1198418"/>
            <a:ext cx="2341419" cy="6996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AWS Lambda :</a:t>
            </a:r>
          </a:p>
          <a:p>
            <a:pPr algn="ctr"/>
            <a:r>
              <a:rPr lang="en-IN" dirty="0"/>
              <a:t>Python processing request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D0151272-B59E-9EFC-5FCD-20F0239B720E}"/>
              </a:ext>
            </a:extLst>
          </p:cNvPr>
          <p:cNvSpPr/>
          <p:nvPr/>
        </p:nvSpPr>
        <p:spPr>
          <a:xfrm>
            <a:off x="6192981" y="2669527"/>
            <a:ext cx="2341420" cy="7758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Amazon Bedrock :</a:t>
            </a:r>
          </a:p>
          <a:p>
            <a:pPr algn="ctr"/>
            <a:r>
              <a:rPr lang="en-IN" dirty="0"/>
              <a:t>Claude3.5, Sonnet or Llama AI Inference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947F4E8-3A26-0718-5011-FEF6F5262963}"/>
              </a:ext>
            </a:extLst>
          </p:cNvPr>
          <p:cNvSpPr/>
          <p:nvPr/>
        </p:nvSpPr>
        <p:spPr>
          <a:xfrm>
            <a:off x="678866" y="2669527"/>
            <a:ext cx="2402048" cy="78970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Amazon S3 :</a:t>
            </a:r>
          </a:p>
          <a:p>
            <a:pPr algn="ctr"/>
            <a:r>
              <a:rPr lang="en-IN" dirty="0"/>
              <a:t>Stores anonymized session logs and cached summaries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FB519D9B-1F30-09B8-B32C-FFB05C6CD905}"/>
              </a:ext>
            </a:extLst>
          </p:cNvPr>
          <p:cNvSpPr/>
          <p:nvPr/>
        </p:nvSpPr>
        <p:spPr>
          <a:xfrm>
            <a:off x="3472306" y="2669527"/>
            <a:ext cx="2329283" cy="7758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Amazon CloudWatch :</a:t>
            </a:r>
            <a:br>
              <a:rPr lang="en-IN" dirty="0"/>
            </a:br>
            <a:r>
              <a:rPr lang="en-IN" dirty="0"/>
              <a:t>monitors performance and errors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663DF-67CF-65BF-9AB7-F86BC3F3680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082636" y="1548245"/>
            <a:ext cx="389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D3FF22-D23F-07D0-EE87-C405F0A9B65E}"/>
              </a:ext>
            </a:extLst>
          </p:cNvPr>
          <p:cNvCxnSpPr>
            <a:endCxn id="4" idx="1"/>
          </p:cNvCxnSpPr>
          <p:nvPr/>
        </p:nvCxnSpPr>
        <p:spPr>
          <a:xfrm>
            <a:off x="5801589" y="1544782"/>
            <a:ext cx="391392" cy="3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95533D-3E8B-5A42-BC82-045ABAB7738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7363691" y="1898072"/>
            <a:ext cx="0" cy="771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9759CE-5D67-4715-8DE6-38BE339B9352}"/>
              </a:ext>
            </a:extLst>
          </p:cNvPr>
          <p:cNvCxnSpPr>
            <a:stCxn id="5" idx="1"/>
            <a:endCxn id="7" idx="3"/>
          </p:cNvCxnSpPr>
          <p:nvPr/>
        </p:nvCxnSpPr>
        <p:spPr>
          <a:xfrm flipH="1">
            <a:off x="5801589" y="3057454"/>
            <a:ext cx="391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2B90B7-ADDF-BFC4-BDDD-5A3A7D1A1592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3080914" y="3057454"/>
            <a:ext cx="391392" cy="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32482" y="808132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Frontend</a:t>
            </a:r>
            <a:r>
              <a:rPr lang="en-IN" sz="1600" dirty="0">
                <a:latin typeface="Manrope" panose="020B0604020202020204" charset="0"/>
              </a:rPr>
              <a:t>: React.js + CSS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Hosting</a:t>
            </a:r>
            <a:r>
              <a:rPr lang="en-IN" sz="1600" dirty="0">
                <a:latin typeface="Manrope" panose="020B0604020202020204" charset="0"/>
              </a:rPr>
              <a:t>: AWS Amplify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Backend</a:t>
            </a:r>
            <a:r>
              <a:rPr lang="en-IN" sz="1600" dirty="0">
                <a:latin typeface="Manrope" panose="020B0604020202020204" charset="0"/>
              </a:rPr>
              <a:t>: AWS Lambda (serverless functions)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AI Engine</a:t>
            </a:r>
            <a:r>
              <a:rPr lang="en-IN" sz="1600" dirty="0">
                <a:latin typeface="Manrope" panose="020B0604020202020204" charset="0"/>
              </a:rPr>
              <a:t>: Amazon Bedrock (Claude 3.5 or Llama 3)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API Management</a:t>
            </a:r>
            <a:r>
              <a:rPr lang="en-IN" sz="1600" dirty="0">
                <a:latin typeface="Manrope" panose="020B0604020202020204" charset="0"/>
              </a:rPr>
              <a:t>: Amazon API Gateway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Storage</a:t>
            </a:r>
            <a:r>
              <a:rPr lang="en-IN" sz="1600" dirty="0">
                <a:latin typeface="Manrope" panose="020B0604020202020204" charset="0"/>
              </a:rPr>
              <a:t>: Amazon S3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Monitoring</a:t>
            </a:r>
            <a:r>
              <a:rPr lang="en-IN" sz="1600" dirty="0">
                <a:latin typeface="Manrope" panose="020B0604020202020204" charset="0"/>
              </a:rPr>
              <a:t>: Amazon CloudWatch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Manrope" panose="020B0604020202020204" charset="0"/>
              </a:rPr>
              <a:t>Future Implementation:</a:t>
            </a:r>
            <a:r>
              <a:rPr lang="en-IN" sz="1600" dirty="0">
                <a:latin typeface="Manrope" panose="020B0604020202020204" charset="0"/>
              </a:rPr>
              <a:t> Amazon Translate for regional language support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anrope" panose="020B0604020202020204" charset="0"/>
              </a:rPr>
              <a:t>CodeTutor</a:t>
            </a:r>
            <a:r>
              <a:rPr lang="en-US" sz="1600" dirty="0">
                <a:latin typeface="Manrope" panose="020B0604020202020204" charset="0"/>
              </a:rPr>
              <a:t> AI directly advances Digital India, Skill India, and Startup India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anose="020B0604020202020204" charset="0"/>
              </a:rPr>
              <a:t>Making high-quality tech education accessible, affordable, and inclusive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anose="020B0604020202020204" charset="0"/>
              </a:rPr>
              <a:t>Empowering students in non-metro regions to compete globally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anose="020B0604020202020204" charset="0"/>
              </a:rPr>
              <a:t>Reducing reliance on expensive coaching or urban tech hubs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anose="020B0604020202020204" charset="0"/>
              </a:rPr>
              <a:t>Building a self-reliant developer ecosystem across Bharat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827</Words>
  <Application>Microsoft Office PowerPoint</Application>
  <PresentationFormat>On-screen Show (16:9)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Courier New</vt:lpstr>
      <vt:lpstr>Manrope</vt:lpstr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Saqib AK</dc:creator>
  <cp:lastModifiedBy>Saqib Ahmed K</cp:lastModifiedBy>
  <cp:revision>4</cp:revision>
  <dcterms:modified xsi:type="dcterms:W3CDTF">2026-01-20T15:36:53Z</dcterms:modified>
</cp:coreProperties>
</file>